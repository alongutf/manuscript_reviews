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07B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A1A2E"/>
                </a:solidFill>
                <a:latin typeface="Calibri"/>
              </a:rPr>
              <a:t>From 10⁴ genes to one number</a:t>
            </a:r>
          </a:p>
          <a:p>
            <a:pPr algn="l">
              <a:spcAft>
                <a:spcPts val="1800"/>
              </a:spcAft>
            </a:pPr>
            <a:r>
              <a:rPr sz="2400" b="0">
                <a:solidFill>
                  <a:srgbClr val="4C72B0"/>
                </a:solidFill>
                <a:latin typeface="Calibri"/>
              </a:rPr>
              <a:t>A coupling-strength order parameter ρ for cellular dysregulation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555566"/>
                </a:solidFill>
                <a:latin typeface="Calibri"/>
              </a:rPr>
              <a:t>Genome-wide dysregulation in antibiotic tolerance and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Random-matrix theory  ·  Gaussian-copula simulations  ·  bacterial scRNA-seq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THE QUESTION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The cell as a strongly-interacting many-body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A transcriptome is ~10³–10⁴ genes coupled by a regulatory network.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4C72B0"/>
                </a:solidFill>
                <a:latin typeface="Calibri"/>
              </a:rPr>
              <a:t>The spin-glass question: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Sherrington–Kirkpatrick — N spins, all-to-all random couplings Jᵢⱼ. The macroscopic state is set by the width J of the coupling distribution, not the ∼N² individual Jᵢⱼ.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E07B54"/>
                </a:solidFill>
                <a:latin typeface="Calibri"/>
              </a:rPr>
              <a:t>Our claim: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the genome-wide regulatory state collapses onto a single coupling strength ρ (shared-variance fraction) — analogous to J. The whole talk: define ρ, recover it from simulations, measure it in data.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Biology, stated once: stress (antibiotics) acts like raising temperature — it melts the ordered network. Tolerant/persister cells = low ρ.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SETUP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The data is a large random matrix</a:t>
            </a:r>
          </a:p>
        </p:txBody>
      </p:sp>
      <p:pic>
        <p:nvPicPr>
          <p:cNvPr id="4" name="Picture 3" descr="experiment 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660" y="1463040"/>
            <a:ext cx="5444519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6236208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Single-cell RNA-seq of bacteria under acute stress (experimental setup).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Count matrix X : n cells × p genes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p ∼ 10³–10⁴, n ∼ 10³  →  ratio γ = p/n = O(1)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Object of interest: the gene–gene correlation matrix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C = (1/n) XᵀX  after row-normalize + z-score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This is the RMT regime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sample correlations are dominated by noise — we need the right null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Plan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(1) noise null, (2) order parameter, (3) calibrate with simulations, (4) measure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THEORY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Null model, signal, and an order parameter</a:t>
            </a:r>
          </a:p>
        </p:txBody>
      </p:sp>
      <p:pic>
        <p:nvPicPr>
          <p:cNvPr id="4" name="Picture 3" descr="figure2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96" y="1463040"/>
            <a:ext cx="443788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36208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Fig 2: random-matrix MP, generalized-MP at ρ=0/0.7/0.8/0.9, eigenvalue density &amp; data CCDFs.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63040"/>
            <a:ext cx="4114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Marchenko–Pastur null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independent genes → eigenvalues fill the MP sea λ± = (1±√γ)² (the ρ=0 reference)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Realize it by scrambling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permute each gene across cells — kills correlations, keeps marginals; matches MP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Correlations push eigenvalues out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outliers above λ_max^scr = BBP-type transition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Generalized MP (GMP)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a one-parameter ρ deformation of the bulk — fit ρ to the whole spectrum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Order parameter: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GMP-Cor = Σ max(λᵢ − λ_max^scr, 0) = spectral weight expelled above the noise edge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THE MODEL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What ρ means microscopically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1">
                <a:solidFill>
                  <a:srgbClr val="1A1A2E"/>
                </a:solidFill>
                <a:latin typeface="Calibri"/>
              </a:rPr>
              <a:t>Factor model for the ground-truth correlation matrix: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4C72B0"/>
                </a:solidFill>
                <a:latin typeface="Calibri"/>
              </a:rPr>
              <a:t>A = √(1−ρ)·I   +   cluster factors   +   one global hub factor      ;     C = AAᵀ, normalized to unit diagonal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ρ = shared-variance fraction — it sets the mean off-diagonal magnitude (the coupling width).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E07B54"/>
                </a:solidFill>
                <a:latin typeface="Calibri"/>
              </a:rPr>
              <a:t>Two-tier structure mirrors the biology at low resolution: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A1A2E"/>
                </a:solidFill>
                <a:latin typeface="Calibri"/>
              </a:rPr>
              <a:t>clusters ≈ operons / regulons   ·   global hub ≈ master regulator.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1A1A2E"/>
                </a:solidFill>
                <a:latin typeface="Calibri"/>
              </a:rPr>
              <a:t>ρ → 1 : tightly coupled, ordered network   ·   ρ → 0 : decoupled, dysregulated.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SIMULATIONS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A realistic instrument with known ρ</a:t>
            </a:r>
          </a:p>
        </p:txBody>
      </p:sp>
      <p:pic>
        <p:nvPicPr>
          <p:cNvPr id="4" name="Picture 3" descr="figure_s2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40" y="1463040"/>
            <a:ext cx="39624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36208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Fig S2: factor-model network → correlation matrix → copula count pipeline → simulated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63040"/>
            <a:ext cx="4114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Goal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test whether GMP-Cor recovers the microscopic coupling under realistic noise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Stage 1: structure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build C(ρ) from the cluster+hub factor model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Stage 2: counts via Gaussian copula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latent z~N(0,C) → Φ → NB counts (inv-Gamma means)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Realistic nuisances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library-size variation + expression-dependent dropout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Why it works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two-stage design decouples ground-truth ρ from count-level noise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CALIBRATION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Key result: GMP-Cor faithfully recovers ρ</a:t>
            </a:r>
          </a:p>
        </p:txBody>
      </p:sp>
      <p:pic>
        <p:nvPicPr>
          <p:cNvPr id="4" name="Picture 3" descr="rho_sweep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85554"/>
            <a:ext cx="6492240" cy="3709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6236208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ρ-sweep calibration: GMP-Cor increases monotonically with the coupling strength 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Sweep ρ, hold structure fixed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only count-sampling noise varies across repeats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GMP-Cor(ρ) is monotonic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and robust — small error bars over replicates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The order parameter is invertible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one number reports the microscopic coupling strength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This is the ‘it works’ slide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spectral readout ↔ hidden ρ, by construction-blind 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ROBUSTNESS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It measures coupling, not heterogeneity</a:t>
            </a:r>
          </a:p>
        </p:txBody>
      </p:sp>
      <p:pic>
        <p:nvPicPr>
          <p:cNvPr id="4" name="Picture 3" descr="subpopulation_mixing_rho09_50_50_20260615_111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58766"/>
            <a:ext cx="6492240" cy="39634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36208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50/50 subpopulation-mixing control: GMP-Cor tracks ρ, not the number of populations.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463040"/>
            <a:ext cx="4114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The obvious objection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‘you’re just detecting clusters / batch structure’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Stress test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mix two subpopulations with distinct hub topologies but the same ρ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Result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GMP-Cor separates a mix of two regulated pops (high ρ) from two dysregulated pops (low ρ)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Conclusion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the metric reports coupling strength, not mere population mixing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DATA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Real cells fall on the calibration curve</a:t>
            </a:r>
          </a:p>
        </p:txBody>
      </p:sp>
      <p:pic>
        <p:nvPicPr>
          <p:cNvPr id="4" name="Picture 3" descr="figure3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1732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465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Fig 3: experimental Reg- vs Dis-Arrest spectra, matched simulations (ρ=0.9 / 0.5), calibration curve, group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554480"/>
            <a:ext cx="4206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Empirical spectra → fitted ρ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High-ρ vs low-ρ samples have visibly different eigenvalue spectra; each collapses to one ρ.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4C72B0"/>
                </a:solidFill>
                <a:latin typeface="Calibri"/>
              </a:rPr>
              <a:t>Simulations match data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ρ=0.9 sim ↔ regulated cells   ·   ρ=0.5 sim ↔ dysregulated cells.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E07B54"/>
                </a:solidFill>
                <a:latin typeface="Calibri"/>
              </a:rPr>
              <a:t>Groups separate on ρ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Regulated vs Dis-Arrest populations land at distinct, significant GMP-Cor — right on the calibration curve.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INTERPRETATION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The biology, at low resolution</a:t>
            </a:r>
          </a:p>
        </p:txBody>
      </p:sp>
      <p:pic>
        <p:nvPicPr>
          <p:cNvPr id="4" name="Picture 3" descr="figure4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40" y="1463040"/>
            <a:ext cx="554736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6236208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55566"/>
                </a:solidFill>
                <a:latin typeface="Calibri"/>
              </a:rPr>
              <a:t>Fig 4: downstream functional read-out of the dysregulated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Low ρ = persistence/tolerance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globally dysregulated, decoupled regulatory network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Coordinated programs break down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e.g. coherent gene modules lose their correlation structure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Phenotype link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555566"/>
                </a:solidFill>
                <a:latin typeface="Calibri"/>
              </a:rPr>
              <a:t>    dysregulation tracks antibiotic tolerance / lag-time survival</a:t>
            </a:r>
          </a:p>
          <a:p>
            <a:pPr algn="l">
              <a:spcAft>
                <a:spcPts val="6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•  (Mentioned once — back to the physics)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C72B0"/>
                </a:solidFill>
                <a:latin typeface="Calibri"/>
              </a:rPr>
              <a:t>TAKEAWAY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1A1A2E"/>
                </a:solidFill>
                <a:latin typeface="Calibri"/>
              </a:rPr>
              <a:t>One number for a 10⁴-dimensional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A1A2E"/>
                </a:solidFill>
                <a:latin typeface="Calibri"/>
              </a:rPr>
              <a:t>What we bought: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(1) a clean RMT null (Marchenko–Pastur via scrambling)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(2) a spectral order parameter, GMP-Cor, with a microscopic meaning (ρ)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2E"/>
                </a:solidFill>
                <a:latin typeface="Calibri"/>
              </a:rPr>
              <a:t>(3) a calibrated, robust copula simulator linking the two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E07B54"/>
                </a:solidFill>
                <a:latin typeface="Calibri"/>
              </a:rPr>
              <a:t>The SK payoff: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1A1A2E"/>
                </a:solidFill>
                <a:latin typeface="Calibri"/>
              </a:rPr>
              <a:t>just as J controls the spin glass without knowing any individual Jᵢⱼ, ρ summarizes the cell’s global regulatory coupling — and stress acts like temperature, melting the ordered network.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4C72B0"/>
                </a:solidFill>
                <a:latin typeface="Calibri"/>
              </a:rPr>
              <a:t>Open question: is the loss of coordination a sharp transition in ρ?  —  thank you /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